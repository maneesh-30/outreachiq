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AGENTS FOR B2B OUTREACH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9601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sending
</a:t>
            </a:r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7C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spam.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company URL. OutreachIQ finds real companies that match, researches each one, and writes a first email grounded in actual facts. Not a template generator, a research-backed outreach engine.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2912364" cy="384048"/>
          </a:xfrm>
          <a:prstGeom prst="roundRect">
            <a:avLst>
              <a:gd name="adj" fmla="val 21429"/>
            </a:avLst>
          </a:prstGeom>
          <a:solidFill>
            <a:srgbClr val="15171F"/>
          </a:solidFill>
          <a:ln w="12700">
            <a:solidFill>
              <a:srgbClr val="3A3F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526280"/>
            <a:ext cx="2912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Microsoft Azure AI Foundry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17036" y="4526280"/>
            <a:ext cx="2153412" cy="384048"/>
          </a:xfrm>
          <a:prstGeom prst="roundRect">
            <a:avLst>
              <a:gd name="adj" fmla="val 21429"/>
            </a:avLst>
          </a:prstGeom>
          <a:solidFill>
            <a:srgbClr val="15171F"/>
          </a:solidFill>
          <a:ln w="12700">
            <a:solidFill>
              <a:srgbClr val="3A3F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17036" y="452628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orchestration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4526280"/>
            <a:ext cx="1622146" cy="384048"/>
          </a:xfrm>
          <a:prstGeom prst="roundRect">
            <a:avLst>
              <a:gd name="adj" fmla="val 21429"/>
            </a:avLst>
          </a:prstGeom>
          <a:solidFill>
            <a:srgbClr val="15171F"/>
          </a:solidFill>
          <a:ln w="12700">
            <a:solidFill>
              <a:srgbClr val="3A3F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4526280"/>
            <a:ext cx="16221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discovery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23760" y="1188720"/>
            <a:ext cx="4297680" cy="1600200"/>
          </a:xfrm>
          <a:prstGeom prst="roundRect">
            <a:avLst>
              <a:gd name="adj" fmla="val 5143"/>
            </a:avLst>
          </a:prstGeom>
          <a:solidFill>
            <a:srgbClr val="15171F"/>
          </a:solidFill>
          <a:ln w="12700">
            <a:solidFill>
              <a:srgbClr val="5A33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5236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TYPICAL AI EMAIL WRITER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1691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D9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 {name}, I’d love to connect and explore synergies for your business..."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researched instead of guessed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3337560"/>
            <a:ext cx="4297680" cy="2331720"/>
          </a:xfrm>
          <a:prstGeom prst="roundRect">
            <a:avLst>
              <a:gd name="adj" fmla="val 3529"/>
            </a:avLst>
          </a:prstGeom>
          <a:solidFill>
            <a:srgbClr val="15171F"/>
          </a:solidFill>
          <a:ln w="16510">
            <a:solidFill>
              <a:srgbClr val="2E6B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9D0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OUTREACHIQ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38404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FE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"Saw you just opened a second fulfilment hub. Teams at that stage usually lose hours to manual stock counts, which is the exact gap our client Ferns cut by 60%."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in. A pipeline does the rest.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setup agents learn your business and find matches on the live web. Then five agents run per prospect, each handing its work to the next.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· RUNS ONCE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B1E28"/>
          </a:solidFill>
          <a:ln w="15240">
            <a:solidFill>
              <a:srgbClr val="2E5F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07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Self-analyzer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5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3081528"/>
            <a:ext cx="45720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54680" y="265176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B1E28"/>
          </a:solidFill>
          <a:ln w="15240">
            <a:solidFill>
              <a:srgbClr val="2E5F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2807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15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3081528"/>
            <a:ext cx="45720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029200" y="2743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27080" cy="1600200"/>
          </a:xfrm>
          <a:prstGeom prst="roundRect">
            <a:avLst>
              <a:gd name="adj" fmla="val 5143"/>
            </a:avLst>
          </a:prstGeom>
          <a:solidFill>
            <a:srgbClr val="0E1016"/>
          </a:solidFill>
          <a:ln w="15240">
            <a:solidFill>
              <a:srgbClr val="3A3F4E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68680" y="3977640"/>
            <a:ext cx="2743200" cy="274320"/>
          </a:xfrm>
          <a:prstGeom prst="rect">
            <a:avLst/>
          </a:prstGeom>
          <a:solidFill>
            <a:srgbClr val="0A0B0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PROSPECT ×N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43484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B1E28"/>
          </a:solidFill>
          <a:ln w="15240">
            <a:solidFill>
              <a:srgbClr val="7A33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590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937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550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15768" y="4864608"/>
            <a:ext cx="256032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71800" y="443484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B1E28"/>
          </a:solidFill>
          <a:ln w="15240">
            <a:solidFill>
              <a:srgbClr val="2E5F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63240" y="4590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4937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18888" y="4864608"/>
            <a:ext cx="256032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74920" y="443484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B1E28"/>
          </a:solidFill>
          <a:ln w="15240">
            <a:solidFill>
              <a:srgbClr val="2E5F8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66360" y="4590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Mapper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937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22008" y="4864608"/>
            <a:ext cx="256032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78040" y="443484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B1E28"/>
          </a:solidFill>
          <a:ln w="15240">
            <a:solidFill>
              <a:srgbClr val="7A332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69480" y="4590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Finder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4937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550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25128" y="4864608"/>
            <a:ext cx="256032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81160" y="443484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B1E28"/>
          </a:solidFill>
          <a:ln w="15240">
            <a:solidFill>
              <a:srgbClr val="2E5F8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72600" y="4590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Drafter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372600" y="4937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every draft and send from your own Gmail. Nothing goes out without you.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THE CREW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agents, one job each.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learn your business and find matches. Five run per prospect. Five of the seven run on Azure Foundry.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ONCE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5120640" cy="0"/>
          </a:xfrm>
          <a:prstGeom prst="line">
            <a:avLst/>
          </a:prstGeom>
          <a:noFill/>
          <a:ln w="12700">
            <a:solidFill>
              <a:srgbClr val="2A2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16936"/>
            <a:ext cx="146304" cy="146304"/>
          </a:xfrm>
          <a:prstGeom prst="ellipse">
            <a:avLst/>
          </a:prstGeom>
          <a:solidFill>
            <a:srgbClr val="3A9B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Self-analyzer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website, extracts what you sell and your ICP.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843784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15171F"/>
          </a:solidFill>
          <a:ln w="12700">
            <a:solidFill>
              <a:srgbClr val="2E5F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8529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46304" cy="146304"/>
          </a:xfrm>
          <a:prstGeom prst="ellipse">
            <a:avLst/>
          </a:prstGeom>
          <a:solidFill>
            <a:srgbClr val="3A9B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886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search queries, finds and scores real companies on the web.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666744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15171F"/>
          </a:solidFill>
          <a:ln w="12700">
            <a:solidFill>
              <a:srgbClr val="2E5F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36758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prospect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624328"/>
            <a:ext cx="5120640" cy="0"/>
          </a:xfrm>
          <a:prstGeom prst="line">
            <a:avLst/>
          </a:prstGeom>
          <a:noFill/>
          <a:ln w="12700">
            <a:solidFill>
              <a:srgbClr val="2A2E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916936"/>
            <a:ext cx="146304" cy="146304"/>
          </a:xfrm>
          <a:prstGeom prst="ellipse">
            <a:avLst/>
          </a:prstGeom>
          <a:solidFill>
            <a:srgbClr val="F5503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company blurb into structured facts: industry, size, signals.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61320" y="2843784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15171F"/>
          </a:solidFill>
          <a:ln w="12700">
            <a:solidFill>
              <a:srgbClr val="7A33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61320" y="28529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550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3675888"/>
            <a:ext cx="146304" cy="146304"/>
          </a:xfrm>
          <a:prstGeom prst="ellipse">
            <a:avLst/>
          </a:prstGeom>
          <a:solidFill>
            <a:srgbClr val="3A9BF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20840" y="3547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3822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0 to 100 against your ICP, with a one-line reason.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561320" y="3602736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15171F"/>
          </a:solidFill>
          <a:ln w="12700">
            <a:solidFill>
              <a:srgbClr val="2E5F8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61320" y="3611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4434840"/>
            <a:ext cx="146304" cy="146304"/>
          </a:xfrm>
          <a:prstGeom prst="ellipse">
            <a:avLst/>
          </a:prstGeom>
          <a:solidFill>
            <a:srgbClr val="3A9BF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20840" y="4306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Mapper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45811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two problems you solve, plus your best proof case study.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561320" y="4361688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15171F"/>
          </a:solidFill>
          <a:ln w="12700">
            <a:solidFill>
              <a:srgbClr val="2E5F8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61320" y="4370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5193792"/>
            <a:ext cx="146304" cy="146304"/>
          </a:xfrm>
          <a:prstGeom prst="ellipse">
            <a:avLst/>
          </a:prstGeom>
          <a:solidFill>
            <a:srgbClr val="F5503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20840" y="5065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Finder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53400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sharp personalization angle, a dozen words or less.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561320" y="512064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15171F"/>
          </a:solidFill>
          <a:ln w="12700">
            <a:solidFill>
              <a:srgbClr val="7A332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561320" y="51297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550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5952744"/>
            <a:ext cx="146304" cy="146304"/>
          </a:xfrm>
          <a:prstGeom prst="ellipse">
            <a:avLst/>
          </a:prstGeom>
          <a:solidFill>
            <a:srgbClr val="3A9BF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20840" y="5824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Drafter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720840" y="6099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 your voice, cites real proof, signs with your name.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561320" y="5879592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15171F"/>
          </a:solidFill>
          <a:ln w="12700">
            <a:solidFill>
              <a:srgbClr val="2E5F8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561320" y="58887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THE CORE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does the thinking.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931920" cy="3566160"/>
          </a:xfrm>
          <a:prstGeom prst="roundRect">
            <a:avLst>
              <a:gd name="adj" fmla="val 2308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286000"/>
            <a:ext cx="914400" cy="1005840"/>
          </a:xfrm>
          <a:prstGeom prst="triangle">
            <a:avLst/>
          </a:prstGeom>
          <a:solidFill>
            <a:srgbClr val="3A9BF0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2743200"/>
            <a:ext cx="868680" cy="640080"/>
          </a:xfrm>
          <a:prstGeom prst="triangle">
            <a:avLst/>
          </a:prstGeom>
          <a:solidFill>
            <a:srgbClr val="1D5F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51560" y="4206240"/>
            <a:ext cx="3108960" cy="411480"/>
          </a:xfrm>
          <a:prstGeom prst="roundRect">
            <a:avLst>
              <a:gd name="adj" fmla="val 20000"/>
            </a:avLst>
          </a:prstGeom>
          <a:solidFill>
            <a:srgbClr val="1B1E28"/>
          </a:solidFill>
          <a:ln w="12700">
            <a:solidFill>
              <a:srgbClr val="3A3F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gpt-4.1-mini  ·  Responses API  ·  vector store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83480" y="1920240"/>
            <a:ext cx="6537960" cy="1115568"/>
          </a:xfrm>
          <a:prstGeom prst="roundRect">
            <a:avLst>
              <a:gd name="adj" fmla="val 737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221992"/>
            <a:ext cx="502920" cy="502920"/>
          </a:xfrm>
          <a:prstGeom prst="ellipse">
            <a:avLst/>
          </a:prstGeom>
          <a:solidFill>
            <a:srgbClr val="102236"/>
          </a:solidFill>
          <a:ln w="12700">
            <a:solidFill>
              <a:srgbClr val="2E5F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brain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423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fit, mapping pains and writing emails run on gpt-4.1-mini, the steps where quality decides whether the run was worth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83480" y="3145536"/>
            <a:ext cx="6537960" cy="1115568"/>
          </a:xfrm>
          <a:prstGeom prst="roundRect">
            <a:avLst>
              <a:gd name="adj" fmla="val 737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3447288"/>
            <a:ext cx="502920" cy="502920"/>
          </a:xfrm>
          <a:prstGeom prst="ellipse">
            <a:avLst/>
          </a:prstGeom>
          <a:solidFill>
            <a:srgbClr val="102236"/>
          </a:solidFill>
          <a:ln w="12700">
            <a:solidFill>
              <a:srgbClr val="2E5F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3310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knowledge base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64845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and uploaded docs (case studies, decks) live in an Azure vector store, embedded with text-embedding-3-small so they are searchable.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83480" y="4370832"/>
            <a:ext cx="6537960" cy="1115568"/>
          </a:xfrm>
          <a:prstGeom prst="roundRect">
            <a:avLst>
              <a:gd name="adj" fmla="val 737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4672584"/>
            <a:ext cx="502920" cy="502920"/>
          </a:xfrm>
          <a:prstGeom prst="ellipse">
            <a:avLst/>
          </a:prstGeom>
          <a:solidFill>
            <a:srgbClr val="102236"/>
          </a:solidFill>
          <a:ln w="12700">
            <a:solidFill>
              <a:srgbClr val="2E5F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4672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45354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with citations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48737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Responses API file-search tool answers from your real material and returns the source file, so every email cites proof instead of inventing 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ORCHESTRATION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 for each job.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15171F"/>
          </a:solidFill>
          <a:ln w="15240">
            <a:solidFill>
              <a:srgbClr val="2E5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502920"/>
          </a:xfrm>
          <a:prstGeom prst="triangle">
            <a:avLst/>
          </a:prstGeom>
          <a:solidFill>
            <a:srgbClr val="3A9B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148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Foundry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3A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944368"/>
            <a:ext cx="91440" cy="91440"/>
          </a:xfrm>
          <a:prstGeom prst="rect">
            <a:avLst/>
          </a:prstGeom>
          <a:solidFill>
            <a:srgbClr val="3A9B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880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Scorer, Pain Mapper, Email Drafter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246120"/>
            <a:ext cx="91440" cy="91440"/>
          </a:xfrm>
          <a:prstGeom prst="rect">
            <a:avLst/>
          </a:prstGeom>
          <a:solidFill>
            <a:srgbClr val="3A9B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1821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Self-analyzer and Prospector too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547872"/>
            <a:ext cx="91440" cy="91440"/>
          </a:xfrm>
          <a:prstGeom prst="rect">
            <a:avLst/>
          </a:prstGeom>
          <a:solidFill>
            <a:srgbClr val="3A9B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483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knowledge base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3849624"/>
            <a:ext cx="91440" cy="91440"/>
          </a:xfrm>
          <a:prstGeom prst="rect">
            <a:avLst/>
          </a:prstGeom>
          <a:solidFill>
            <a:srgbClr val="3A9BF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3785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reasoning where quality matters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15171F"/>
          </a:solidFill>
          <a:ln w="15240">
            <a:solidFill>
              <a:srgbClr val="7A33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1031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550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550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2944368"/>
            <a:ext cx="91440" cy="91440"/>
          </a:xfrm>
          <a:prstGeom prst="rect">
            <a:avLst/>
          </a:prstGeom>
          <a:solidFill>
            <a:srgbClr val="F5503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2880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and Hook Finder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3246120"/>
            <a:ext cx="91440" cy="91440"/>
          </a:xfrm>
          <a:prstGeom prst="rect">
            <a:avLst/>
          </a:prstGeom>
          <a:solidFill>
            <a:srgbClr val="F5503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31821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generation and extraction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3547872"/>
            <a:ext cx="91440" cy="91440"/>
          </a:xfrm>
          <a:prstGeom prst="rect">
            <a:avLst/>
          </a:prstGeom>
          <a:solidFill>
            <a:srgbClr val="F5503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75120" y="3483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more mechanical work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46520" y="3849624"/>
            <a:ext cx="91440" cy="91440"/>
          </a:xfrm>
          <a:prstGeom prst="rect">
            <a:avLst/>
          </a:prstGeom>
          <a:solidFill>
            <a:srgbClr val="F5503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5120" y="3785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cheap, so no premium waste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34340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ledger per run · Azure vs Groq split shown on the dashboard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550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free tier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4400" y="4983480"/>
            <a:ext cx="7589520" cy="237744"/>
          </a:xfrm>
          <a:prstGeom prst="roundRect">
            <a:avLst>
              <a:gd name="adj" fmla="val 38462"/>
            </a:avLst>
          </a:prstGeom>
          <a:solidFill>
            <a:srgbClr val="3A9BF0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4983480"/>
            <a:ext cx="2121408" cy="237744"/>
          </a:xfrm>
          <a:prstGeom prst="rect">
            <a:avLst/>
          </a:prstGeom>
          <a:solidFill>
            <a:srgbClr val="F5503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400" y="498348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72%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4400" y="5440680"/>
            <a:ext cx="50292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 flipV="1">
            <a:off x="914400" y="5440680"/>
            <a:ext cx="502920" cy="274320"/>
          </a:xfrm>
          <a:prstGeom prst="triangle">
            <a:avLst/>
          </a:prstGeom>
          <a:solidFill>
            <a:srgbClr val="EA433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600200" y="54406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from your own Gmail via OAuth. No password stored, only a refresh token. Review, then send.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RESULTS &amp; WHAT’S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end to end, today.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your site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 + extract + KB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02152" y="19202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30752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730752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discovery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30752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 from 150s+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64224" y="19202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92824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92824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run, 2 prospects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92824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over 3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26296" y="19202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54896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454896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 Foundry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54896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 + cited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0881360" cy="1691640"/>
          </a:xfrm>
          <a:prstGeom prst="roundRect">
            <a:avLst>
              <a:gd name="adj" fmla="val 4865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prospects in parallel for more speed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tracking and follow-up sequences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team knowledge base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beyond Gmail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Researched, personalized, traceable outreach, with a human in control of everything that gets sent.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2026-10-11T17:50:54Z</dcterms:created>
  <dcterms:modified xsi:type="dcterms:W3CDTF">2026-10-11T17:50:54Z</dcterms:modified>
</cp:coreProperties>
</file>